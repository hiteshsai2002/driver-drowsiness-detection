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10972800" cy="1463040"/>
          </a:xfrm>
          <a:prstGeom prst="roundRect">
            <a:avLst/>
          </a:prstGeom>
          <a:solidFill>
            <a:srgbClr val="19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UTA-RLDD RESEARCH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 Realistic Dataset and Baseline Temporal Model for Early Drowsiness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337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97479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00400"/>
            <a:ext cx="28346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University of Texas at Arlington</a:t>
            </a:r>
          </a:p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Early / multi-stage drowsiness</a:t>
            </a:r>
          </a:p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2019 research paper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560320"/>
            <a:ext cx="3337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697479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B69"/>
                </a:solidFill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3200400"/>
            <a:ext cx="28346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RLDD</a:t>
            </a:r>
          </a:p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60 participants</a:t>
            </a:r>
          </a:p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180 RGB videos</a:t>
            </a:r>
          </a:p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~30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560320"/>
            <a:ext cx="33375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2697479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5" y="3200400"/>
            <a:ext cx="283463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Blink features</a:t>
            </a:r>
          </a:p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HM-LSTM</a:t>
            </a:r>
          </a:p>
          <a:p>
            <a:pPr>
              <a:spcAft>
                <a:spcPts val="600"/>
              </a:spcAft>
              <a:defRPr sz="1500">
                <a:solidFill>
                  <a:srgbClr val="2A303A"/>
                </a:solidFill>
              </a:defRPr>
            </a:pPr>
            <a:r>
              <a:t>• Temporal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1. What Is the Main Goal?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The paper focuses on detecting drowsiness 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5740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Previous systems often focused on obvious signs such as yawning, nodding off and prolonged eye closure.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These signs may appear only shortly before an accident.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The paper targets subtle and early signs of drowsiness.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B69"/>
                </a:solidFill>
              </a:defRPr>
            </a:pPr>
            <a: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Create a large, public and realistic dataset.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Develop a practical end-to-end baseline pipeline.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Use temporal information from blinking to detect multiple stages of drowsiness.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Keep computational and storage demands 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2. What Did UTA Actually Develop?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It is both a dataset contribution and a baseline-model contribution.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RLDD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~30 hours of RGB video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60 participants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180 videos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Alert / Low Vigilance / Drowsy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Real-life recordings using phones or webcams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BASELINE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Real-time end-to-end pipeline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Blink detection and blink features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Hierarchical Multiscale LSTM (HM-LSTM)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Temporal sequence modeling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Voting for video-level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3. How Was the Data Collected?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The paper describes the collection procedure.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60 PARTICIPANTS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68880"/>
            <a:ext cx="1463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Healthy adults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Students / staff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28800"/>
            <a:ext cx="196596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B69"/>
                </a:solidFill>
              </a:defRPr>
            </a:pPr>
            <a:r>
              <a:t>3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468880"/>
            <a:ext cx="1463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One per state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~10 minutes each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828800"/>
            <a:ext cx="196596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9659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2468880"/>
            <a:ext cx="1463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Own phone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or webcam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828800"/>
            <a:ext cx="196596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REAL-LIFE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1" y="2468880"/>
            <a:ext cx="1463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Home or university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Different backgrounds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828800"/>
            <a:ext cx="196596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96596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D4B55"/>
                </a:solidFill>
              </a:defRPr>
            </a:pPr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468880"/>
            <a:ext cx="1463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Alert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Low Vigilance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Drowsy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983480"/>
            <a:ext cx="10058400" cy="777240"/>
          </a:xfrm>
          <a:prstGeom prst="roundRect">
            <a:avLst/>
          </a:prstGeom>
          <a:solidFill>
            <a:srgbClr val="19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Important: the authors state the dataset was NOT collected during actual driving.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4. What Are the Three States?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Labels are based on the Karolinska Sleepiness Scale (KSS).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24612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03120"/>
            <a:ext cx="2743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303A"/>
                </a:solidFill>
              </a:defRPr>
            </a:pPr>
            <a:r>
              <a:t>• No signs of sleepiness.</a:t>
            </a:r>
          </a:p>
          <a:p>
            <a:pPr>
              <a:spcAft>
                <a:spcPts val="600"/>
              </a:spcAft>
              <a:defRPr sz="160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>
                <a:solidFill>
                  <a:srgbClr val="2A303A"/>
                </a:solidFill>
              </a:defRPr>
            </a:pPr>
            <a:r>
              <a:t>• Corresponds to the alert end of the KSS.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24612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00200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LOW VIGILANCE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103120"/>
            <a:ext cx="2743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303A"/>
                </a:solidFill>
              </a:defRPr>
            </a:pPr>
            <a:r>
              <a:t>• Subtle sleepiness appears, or sleepiness is present without needing effort to remain awake.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63040"/>
            <a:ext cx="324612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4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D4B55"/>
                </a:solidFill>
              </a:defRPr>
            </a:pPr>
            <a:r>
              <a:t>DROWSY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103120"/>
            <a:ext cx="2743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303A"/>
                </a:solidFill>
              </a:defRPr>
            </a:pPr>
            <a:r>
              <a:t>• The person needs to actively try not to fall asleep.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5. What Is Their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The key idea is to analyze blink behavior as a sequence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205740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42316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Camera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783080"/>
            <a:ext cx="205740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B69"/>
                </a:solidFill>
              </a:defRPr>
            </a:pPr>
            <a:r>
              <a:t>BLINKS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42316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Detect blinks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783080"/>
            <a:ext cx="205740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A6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A6B9"/>
                </a:solidFill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42316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Duration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Amplitude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Eye-opening velocity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Frequency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783080"/>
            <a:ext cx="205740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9202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HM-LSTM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42316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Learn temporal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783080"/>
            <a:ext cx="205740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9202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VOTING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1" y="242316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Video-level</a:t>
            </a:r>
          </a:p>
          <a:p>
            <a:pPr>
              <a:spcAft>
                <a:spcPts val="600"/>
              </a:spcAft>
              <a:defRPr sz="1300">
                <a:solidFill>
                  <a:srgbClr val="2A303A"/>
                </a:solidFill>
              </a:defRPr>
            </a:pPr>
            <a:r>
              <a:t>•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074920"/>
            <a:ext cx="10241280" cy="685800"/>
          </a:xfrm>
          <a:prstGeom prst="roundRect">
            <a:avLst/>
          </a:prstGeom>
          <a:solidFill>
            <a:srgbClr val="19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LSTM? Drowsiness is a temporal process — the pattern across multiple blinks matters.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6. How Did They Evaluate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Five-fold participant-based cross-validation.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One fold used for testing.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Remaining four folds used for training.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Repeated for all five folds.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Results averaged across folds.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This keeps participants separated between training and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B69"/>
                </a:solidFill>
              </a:defRPr>
            </a:pPr>
            <a:r>
              <a:t>REPORTED VIDEO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HM-LSTM: 65.2%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LSTM: 61.4%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Fully connected network: 57.0%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Human judgment: 57.8%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The paper reports the HM-LSTM baseline outperformed human judgment on the designed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7. Why Are Blink / Eye Features Used?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The paper explains why blinking is a useful behavioral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2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273D2"/>
                </a:solidFill>
              </a:defRPr>
            </a:pPr>
            <a:r>
              <a:t>BLINK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Blink frequency can change with fatigue.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Blink duration can be informative.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Blink amplitude can be informative.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Eye-opening velocity can be informative.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The sequence of these features can reveal temporal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IMPORTANT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The paper's baseline focuses on blink behavior.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The authors also suggest future work using a spatial deep network to learn other drowsiness features besides blinks.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8. 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Points directly discussed by the authors.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Dataset was not collected during actual driving.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Does not capture night lighting or vehicle camera vibration.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Blink detection is harder below 30 fps.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Early drowsiness can be difficult even for human observers.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9B69"/>
                </a:solidFill>
              </a:defRPr>
            </a:pPr>
            <a: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0574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Add a spatial deep network to learn drowsiness features besides blinks.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Move toward end-to-end learning of visual features.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50">
                <a:solidFill>
                  <a:srgbClr val="2A303A"/>
                </a:solidFill>
              </a:defRPr>
            </a:pPr>
            <a:r>
              <a:t>• The authors note that the required amount of training data was not clear at the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2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846"/>
                </a:solidFill>
              </a:defRPr>
            </a:pPr>
            <a:r>
              <a:t>9. How Does This Paper Relate to My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6"/>
                </a:solidFill>
              </a:defRPr>
            </a:pPr>
            <a:r>
              <a:t>This is the conclusion to present to your professor.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480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126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A303A"/>
                </a:solidFill>
              </a:defRPr>
            </a:pPr>
            <a:r>
              <a:t>I studied the UTA-RLDD paper and learned that it is not only a dataset. The authors also developed a real-time baseline temporal model.</a:t>
            </a:r>
            <a:br/>
            <a:br/>
            <a:r>
              <a:t>Their approach takes video, detects blinks, extracts four blink-related features, and uses an HM-LSTM to learn temporal patterns.</a:t>
            </a:r>
            <a:br/>
            <a:br/>
            <a:r>
              <a:t>The dataset contains about 30 hours of RGB video from 60 participants, with alert, low-vigilance and drowsy labels.</a:t>
            </a:r>
            <a:br/>
            <a:br/>
            <a:r>
              <a:t>An important point is that the authors suggested future work using a spatial deep network to learn other drowsiness features besides blinks.</a:t>
            </a:r>
            <a:br/>
            <a:br/>
            <a:r>
              <a:t>My project will investigate a CNN-based visual approach and compare it with a baseline, while evaluating performance on drivers who were not seen during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2823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6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