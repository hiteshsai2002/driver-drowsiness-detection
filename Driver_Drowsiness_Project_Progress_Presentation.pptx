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10972800" cy="1417320"/>
          </a:xfrm>
          <a:prstGeom prst="roundRect">
            <a:avLst/>
          </a:prstGeom>
          <a:solidFill>
            <a:srgbClr val="1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DRIVER DROWSINESS DETECTION USING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7E1F5"/>
                </a:solidFill>
              </a:defRPr>
            </a:pPr>
            <a:r>
              <a:t>Professor Presentation — Existing System, Data, Input &amp;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3756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91440" cy="242316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1518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EXISTING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28072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DrowsyAI</a:t>
            </a:r>
          </a:p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Real-time camera-based detection</a:t>
            </a:r>
          </a:p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Facial landmarks + eye closure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468880"/>
            <a:ext cx="333756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2468880"/>
            <a:ext cx="91440" cy="242316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61518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127248"/>
            <a:ext cx="28072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UTA-RLDD</a:t>
            </a:r>
          </a:p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60 participants</a:t>
            </a:r>
          </a:p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180 labeled RGB videos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468880"/>
            <a:ext cx="333756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2468880"/>
            <a:ext cx="91440" cy="2423160"/>
          </a:xfrm>
          <a:prstGeom prst="rect">
            <a:avLst/>
          </a:prstGeom>
          <a:solidFill>
            <a:srgbClr val="735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5" y="261518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MY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8"/>
            <a:ext cx="280720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Video → Frames → CNN</a:t>
            </a:r>
          </a:p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Prediction → Decision</a:t>
            </a:r>
          </a:p>
          <a:p>
            <a:pPr>
              <a:spcAft>
                <a:spcPts val="700"/>
              </a:spcAft>
              <a:defRPr sz="1600">
                <a:solidFill>
                  <a:srgbClr val="282F3A"/>
                </a:solidFill>
              </a:defRPr>
            </a:pPr>
            <a:r>
              <a:t>• →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What Questions Am I Answering?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The five points requested for the project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33756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91440" cy="16916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934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1. Existing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807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What already exists?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33756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91440" cy="169164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60934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2.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21408"/>
            <a:ext cx="2807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Where is my dataset coming from?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63040"/>
            <a:ext cx="333756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63040"/>
            <a:ext cx="91440" cy="1691640"/>
          </a:xfrm>
          <a:prstGeom prst="rect">
            <a:avLst/>
          </a:prstGeom>
          <a:solidFill>
            <a:srgbClr val="735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60934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3.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21408"/>
            <a:ext cx="2807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Video or image?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333756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11880"/>
            <a:ext cx="91440" cy="16916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75818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4.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70248"/>
            <a:ext cx="2807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Do I have training data?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11880"/>
            <a:ext cx="333756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611880"/>
            <a:ext cx="91440" cy="1691640"/>
          </a:xfrm>
          <a:prstGeom prst="rect">
            <a:avLst/>
          </a:prstGeom>
          <a:solidFill>
            <a:srgbClr val="28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758184"/>
            <a:ext cx="2898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5B9"/>
                </a:solidFill>
              </a:defRPr>
            </a:pPr>
            <a:r>
              <a:t>5. Eyes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270248"/>
            <a:ext cx="2807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Why are eyes commonly used?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1. Existing System — DrowsyAI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Practical real-time example I studied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03520" cy="4617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1440" cy="461772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17904"/>
            <a:ext cx="48646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PUBLICLY DESCRIBED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477316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Smartphone/computer front camera</a:t>
            </a:r>
          </a:p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MediaPipe Face Mesh</a:t>
            </a:r>
          </a:p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468 3D facial landmarks</a:t>
            </a:r>
          </a:p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Real-time eye tracking</a:t>
            </a:r>
          </a:p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Prolonged eye closure as an important drowsiness signal</a:t>
            </a:r>
          </a:p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Adjustable eye-closure threshold; 0.5 seconds described as default</a:t>
            </a:r>
          </a:p>
          <a:p>
            <a:pPr>
              <a:spcAft>
                <a:spcPts val="700"/>
              </a:spcAft>
              <a:defRPr sz="1450">
                <a:solidFill>
                  <a:srgbClr val="282F3A"/>
                </a:solidFill>
              </a:defRPr>
            </a:pPr>
            <a:r>
              <a:t>• Face zoom, night mode and head-tilt adaptation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617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91440" cy="46177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1790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HOW I WILL DESCRIBE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29967"/>
            <a:ext cx="472744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“DrowsyAI is an existing real-time drowsiness system. Its public description focuses on facial landmark tracking and prolonged eye closure.”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I will not claim that its internal model is CNN unless its implementation confirms it.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It is an existing-system reference for my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2. Why Do Existing Systems Focus on Eyes?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Eyes are a strong drowsiness cue, but not the only cue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91440" cy="452628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6362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WHY EYES ARE COMMON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274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Eye closure is strongly associated with drowsiness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PERCLOS measures proportion of time eyes are closed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EAR can quantify eye opening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Blink duration and frequency can be measured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Eye signals can be monitored continuously and without physical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91440" cy="45262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6362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OTHER POSSIBLE CUES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7274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Yawning / mouth opening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Head pose or head drop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Facial expressions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Changes in facial appearance over time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Multiple visual cues can complement eye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3. Where Is My Data Coming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Primary dataset: UTA-RLDD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331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73D2"/>
                </a:solidFill>
              </a:defRPr>
            </a:pPr>
            <a: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846"/>
                </a:solidFill>
              </a:defRPr>
            </a:pPr>
            <a:r>
              <a:t>Participants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331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53619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89B69"/>
                </a:solidFill>
              </a:defRPr>
            </a:pPr>
            <a: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846"/>
                </a:solidFill>
              </a:defRPr>
            </a:pPr>
            <a:r>
              <a:t>RGB videos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2331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3619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7355BE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846"/>
                </a:solidFill>
              </a:defRPr>
            </a:pPr>
            <a:r>
              <a:t>States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3317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53619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B9137"/>
                </a:solidFill>
              </a:defRPr>
            </a:pPr>
            <a:r>
              <a:t>~30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0116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2846"/>
                </a:solidFill>
              </a:defRPr>
            </a:pPr>
            <a:r>
              <a:t>Video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17520"/>
            <a:ext cx="507492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017520"/>
            <a:ext cx="91440" cy="251460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163824"/>
            <a:ext cx="46360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75887"/>
            <a:ext cx="45445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2F3A"/>
                </a:solidFill>
              </a:defRPr>
            </a:pPr>
            <a:r>
              <a:t>• Alert</a:t>
            </a:r>
          </a:p>
          <a:p>
            <a:pPr>
              <a:spcAft>
                <a:spcPts val="700"/>
              </a:spcAft>
              <a:defRPr sz="1700">
                <a:solidFill>
                  <a:srgbClr val="282F3A"/>
                </a:solidFill>
              </a:defRPr>
            </a:pPr>
            <a:r>
              <a:t>• Low Vigilance</a:t>
            </a:r>
          </a:p>
          <a:p>
            <a:pPr>
              <a:spcAft>
                <a:spcPts val="700"/>
              </a:spcAft>
              <a:defRPr sz="1700">
                <a:solidFill>
                  <a:srgbClr val="282F3A"/>
                </a:solidFill>
              </a:defRPr>
            </a:pPr>
            <a:r>
              <a:t>• Drowsy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17520"/>
            <a:ext cx="507492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17520"/>
            <a:ext cx="91440" cy="251460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163824"/>
            <a:ext cx="46360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DATA CHARACTERISTICS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675887"/>
            <a:ext cx="45445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Around 10-minute videos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Phones / webcams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Different quality, angles and backgrounds</a:t>
            </a:r>
          </a:p>
          <a:p>
            <a:pPr>
              <a:spcAft>
                <a:spcPts val="700"/>
              </a:spcAft>
              <a:defRPr sz="1500">
                <a:solidFill>
                  <a:srgbClr val="282F3A"/>
                </a:solidFill>
              </a:defRPr>
            </a:pPr>
            <a:r>
              <a:t>• Public research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4. Video or Image?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Final application = VIDEO; CNN processing = FRAMES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5740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91440" cy="26060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75104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5270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Continuous camera input</a:t>
            </a:r>
          </a:p>
        </p:txBody>
      </p:sp>
      <p:sp>
        <p:nvSpPr>
          <p:cNvPr id="9" name="Chevron 8"/>
          <p:cNvSpPr/>
          <p:nvPr/>
        </p:nvSpPr>
        <p:spPr>
          <a:xfrm>
            <a:off x="2587752" y="2743200"/>
            <a:ext cx="228600" cy="54864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5740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39" y="1828800"/>
            <a:ext cx="91440" cy="2606040"/>
          </a:xfrm>
          <a:prstGeom prst="rect">
            <a:avLst/>
          </a:prstGeom>
          <a:solidFill>
            <a:srgbClr val="28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975104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5B9"/>
                </a:solidFill>
              </a:defRPr>
            </a:pPr>
            <a:r>
              <a:t>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59" y="2487168"/>
            <a:ext cx="15270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Extract images</a:t>
            </a:r>
          </a:p>
        </p:txBody>
      </p:sp>
      <p:sp>
        <p:nvSpPr>
          <p:cNvPr id="14" name="Chevron 13"/>
          <p:cNvSpPr/>
          <p:nvPr/>
        </p:nvSpPr>
        <p:spPr>
          <a:xfrm>
            <a:off x="4919471" y="2743200"/>
            <a:ext cx="228600" cy="54864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205740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59" y="1828800"/>
            <a:ext cx="91440" cy="2606040"/>
          </a:xfrm>
          <a:prstGeom prst="rect">
            <a:avLst/>
          </a:prstGeom>
          <a:solidFill>
            <a:srgbClr val="735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1975104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487168"/>
            <a:ext cx="15270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Learn visual features</a:t>
            </a:r>
          </a:p>
        </p:txBody>
      </p:sp>
      <p:sp>
        <p:nvSpPr>
          <p:cNvPr id="19" name="Chevron 18"/>
          <p:cNvSpPr/>
          <p:nvPr/>
        </p:nvSpPr>
        <p:spPr>
          <a:xfrm>
            <a:off x="7251192" y="2743200"/>
            <a:ext cx="228600" cy="54864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79" y="1828800"/>
            <a:ext cx="205740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91440" cy="260604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1975104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487168"/>
            <a:ext cx="15270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Consecutive predictions</a:t>
            </a:r>
          </a:p>
        </p:txBody>
      </p:sp>
      <p:sp>
        <p:nvSpPr>
          <p:cNvPr id="24" name="Chevron 23"/>
          <p:cNvSpPr/>
          <p:nvPr/>
        </p:nvSpPr>
        <p:spPr>
          <a:xfrm>
            <a:off x="9582911" y="2743200"/>
            <a:ext cx="228600" cy="54864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828800"/>
            <a:ext cx="2057400" cy="2606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1828800"/>
            <a:ext cx="91440" cy="260604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5832" y="1975104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487168"/>
            <a:ext cx="15270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82F3A"/>
                </a:solidFill>
              </a:defRPr>
            </a:pPr>
            <a:r>
              <a:t>• Warn driver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074920"/>
            <a:ext cx="10149840" cy="685800"/>
          </a:xfrm>
          <a:prstGeom prst="roundRect">
            <a:avLst/>
          </a:prstGeom>
          <a:solidFill>
            <a:srgbClr val="1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“The application works with VIDEO, but the CNN receives IMAGES / FRAMES extracted from the video.”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5. Do I Have Training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Yes — UTA-RLDD provides labeled drowsiness videos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91440" cy="45262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6362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YES —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274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Labeled videos are already available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Frames can be extracted from videos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Frames become CNN training samples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Labels provide the target state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I do not need to collect the entire dataset from scratch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91440" cy="452628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6362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IMPORTANT: SPLIT BY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7274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Separate training and testing by DRIVER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Do not randomly split frames from the same driver into both sets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This reduces same-person leakage and gives a more realistic unseen-driver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6. What Is Different From UTA-RLDD?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UTA-RLDD is the dataset; my project develops and evaluates the detection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91440" cy="452628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6362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UTA-RLDD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7274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Dataset / research resource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60 participants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180 RGB videos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Alert / Low Vigilance / Drowsy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Participant folds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Provides data for model development and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91440" cy="452628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63624"/>
            <a:ext cx="48188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MY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75688"/>
            <a:ext cx="47274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CNN-based detection system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Use UTA-RLDD data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Extract frames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Train a baseline CNN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Build a real-time prototype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Test unseen drivers</a:t>
            </a:r>
          </a:p>
          <a:p>
            <a:pPr>
              <a:spcAft>
                <a:spcPts val="700"/>
              </a:spcAft>
              <a:defRPr sz="1550">
                <a:solidFill>
                  <a:srgbClr val="282F3A"/>
                </a:solidFill>
              </a:defRPr>
            </a:pPr>
            <a:r>
              <a:t>• Investigate measurable robustness/generalization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7. Complete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From public dataset to real-time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7830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91440" cy="256032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75104"/>
            <a:ext cx="1344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UTA-RLDD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487168"/>
            <a:ext cx="1252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2F3A"/>
                </a:solidFill>
              </a:defRPr>
            </a:pPr>
            <a:r>
              <a:t>• Labeled videos</a:t>
            </a:r>
          </a:p>
        </p:txBody>
      </p:sp>
      <p:sp>
        <p:nvSpPr>
          <p:cNvPr id="9" name="Chevron 8"/>
          <p:cNvSpPr/>
          <p:nvPr/>
        </p:nvSpPr>
        <p:spPr>
          <a:xfrm>
            <a:off x="2130552" y="2743200"/>
            <a:ext cx="201168" cy="50292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828800"/>
            <a:ext cx="17830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5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828800"/>
            <a:ext cx="91440" cy="2560320"/>
          </a:xfrm>
          <a:prstGeom prst="rect">
            <a:avLst/>
          </a:prstGeom>
          <a:solidFill>
            <a:srgbClr val="28A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975104"/>
            <a:ext cx="1344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5B9"/>
                </a:solidFill>
              </a:defRPr>
            </a:pPr>
            <a:r>
              <a:t>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87168"/>
            <a:ext cx="1252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2F3A"/>
                </a:solidFill>
              </a:defRPr>
            </a:pPr>
            <a:r>
              <a:t>• Preprocessing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4096512" y="2743200"/>
            <a:ext cx="201168" cy="50292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828800"/>
            <a:ext cx="17830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828800"/>
            <a:ext cx="91440" cy="2560320"/>
          </a:xfrm>
          <a:prstGeom prst="rect">
            <a:avLst/>
          </a:prstGeom>
          <a:solidFill>
            <a:srgbClr val="735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975104"/>
            <a:ext cx="1344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355BE"/>
                </a:solidFill>
              </a:defRPr>
            </a:pPr>
            <a:r>
              <a:t>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87168"/>
            <a:ext cx="1252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2F3A"/>
                </a:solidFill>
              </a:defRPr>
            </a:pPr>
            <a:r>
              <a:t>• Facial region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6062472" y="2743200"/>
            <a:ext cx="201168" cy="50292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17830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828800"/>
            <a:ext cx="91440" cy="2560320"/>
          </a:xfrm>
          <a:prstGeom prst="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75104"/>
            <a:ext cx="1344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B9137"/>
                </a:solidFill>
              </a:defRPr>
            </a:pPr>
            <a:r>
              <a:t>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87168"/>
            <a:ext cx="1252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2F3A"/>
                </a:solidFill>
              </a:defRPr>
            </a:pPr>
            <a:r>
              <a:t>• Classification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8028432" y="2743200"/>
            <a:ext cx="201168" cy="50292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3880" y="1828800"/>
            <a:ext cx="17830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9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1828800"/>
            <a:ext cx="91440" cy="2560320"/>
          </a:xfrm>
          <a:prstGeom prst="rect">
            <a:avLst/>
          </a:prstGeom>
          <a:solidFill>
            <a:srgbClr val="289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1975104"/>
            <a:ext cx="1344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9B69"/>
                </a:solidFill>
              </a:defRPr>
            </a:pPr>
            <a:r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487168"/>
            <a:ext cx="1252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2F3A"/>
                </a:solidFill>
              </a:defRPr>
            </a:pPr>
            <a:r>
              <a:t>• Temporal decision</a:t>
            </a:r>
          </a:p>
        </p:txBody>
      </p:sp>
      <p:sp>
        <p:nvSpPr>
          <p:cNvPr id="29" name="Chevron 28"/>
          <p:cNvSpPr/>
          <p:nvPr/>
        </p:nvSpPr>
        <p:spPr>
          <a:xfrm>
            <a:off x="9994392" y="2743200"/>
            <a:ext cx="201168" cy="502920"/>
          </a:xfrm>
          <a:prstGeom prst="chevron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49840" y="1828800"/>
            <a:ext cx="178308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840" y="1828800"/>
            <a:ext cx="91440" cy="256032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1975104"/>
            <a:ext cx="1344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D73D2"/>
                </a:solidFill>
              </a:defRPr>
            </a:pPr>
            <a: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2487168"/>
            <a:ext cx="125272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82F3A"/>
                </a:solidFill>
              </a:defRPr>
            </a:pPr>
            <a:r>
              <a:t>• Driver warning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074920"/>
            <a:ext cx="10149840" cy="685800"/>
          </a:xfrm>
          <a:prstGeom prst="roundRect">
            <a:avLst/>
          </a:prstGeom>
          <a:solidFill>
            <a:srgbClr val="1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Research focus: evaluate robustness / generalization when the test driver was not seen during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7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846"/>
                </a:solidFill>
              </a:defRPr>
            </a:pPr>
            <a:r>
              <a:t>8. Final Explanation to the Professor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7782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6C78"/>
                </a:solidFill>
              </a:defRPr>
            </a:pPr>
            <a:r>
              <a:t>Use this as your 1–2 minute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10652760" cy="4709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3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10012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F3A"/>
                </a:solidFill>
              </a:defRPr>
            </a:pPr>
            <a:r>
              <a:t>“I studied DrowsyAI as an existing real-time system. Its public description uses facial landmark tracking and focuses on prolonged eye closure.</a:t>
            </a:r>
            <a:br/>
            <a:br/>
            <a:r>
              <a:t>For my data, I plan to use UTA-RLDD, which contains approximately 30 hours of labeled RGB video from 60 participants.</a:t>
            </a:r>
            <a:br/>
            <a:br/>
            <a:r>
              <a:t>My final application will use VIDEO, but I will extract frames and use those images as input to the CNN. So yes, I have training data.</a:t>
            </a:r>
            <a:br/>
            <a:br/>
            <a:r>
              <a:t>I will separate training and testing by driver so that I can evaluate the model on people it has never seen during training.</a:t>
            </a:r>
            <a:br/>
            <a:br/>
            <a:r>
              <a:t>I am not claiming that CNN or eye-based drowsiness detection is completely new. My research direction is to investigate and measure a robustness/generalization improvement compared with a baseline CNN.”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